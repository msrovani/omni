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190500" dist="50800" dir="16200000">
              <a:srgbClr val="00D4FF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FF"/>
                </a:solidFill>
              </a:rPr>
              <a:t>⚡ OMNI-GRID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4572000" y="2834640"/>
            <a:ext cx="3044952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0175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B2FF7"/>
                </a:solidFill>
              </a:rPr>
              <a:t>The Cognitive Energy Infrastructure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272A4"/>
                </a:solidFill>
              </a:rPr>
              <a:t>O Sistema Operacional da Energia Elétrica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72A4"/>
                </a:solidFill>
              </a:rPr>
              <a:t>13 REST + WS Endpoints   |   10 ESP32 Modules   |   30+ Android Screens   |   ~302 Tests   |   8 CI/CD Jobs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JARBAS-OMNI-SOVEREIGN-INFINITY v5.1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🔥 O APAGÃO SILENCIOSO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5029200" cy="1097280"/>
          </a:xfrm>
          <a:prstGeom prst="roundRect">
            <a:avLst>
              <a:gd name="adj" fmla="val 666667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6C"/>
                </a:solidFill>
              </a:rPr>
              <a:t>🦆 Duck Curve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Solar oversupply at noon, demand peak at sunset — grid can't adapt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029200" cy="1097280"/>
          </a:xfrm>
          <a:prstGeom prst="roundRect">
            <a:avLst>
              <a:gd name="adj" fmla="val 666667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6C"/>
                </a:solidFill>
              </a:rPr>
              <a:t>⚡ Frequency Instability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Renewables lack inertia — blackout risk in milliseconds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5029200" cy="1097280"/>
          </a:xfrm>
          <a:prstGeom prst="roundRect">
            <a:avLst>
              <a:gd name="adj" fmla="val 666667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6C"/>
                </a:solidFill>
              </a:rPr>
              <a:t>💰 CAPEX Bottleneck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Utilities need trillions in new substations — or Omni-Grid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72A4"/>
                </a:solidFill>
              </a:rPr>
              <a:t>$2T annual global electricity spend — yet the grid can't handle EVs + solar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🧠 A SOLUÇÃO: OMNI-GRID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3474720" cy="3657600"/>
          </a:xfrm>
          <a:prstGeom prst="roundRect">
            <a:avLst>
              <a:gd name="adj" fmla="val 26315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📡 PDE Engine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CCCCC"/>
                </a:solidFill>
              </a:rPr>
              <a:t>Holt-Winters + Kalman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CCCCC"/>
                </a:solidFill>
              </a:rPr>
              <a:t>Monte Carlo 10k scenarios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CCCCC"/>
                </a:solidFill>
              </a:rPr>
              <a:t>CCEE/ONS Live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3474720" cy="3657600"/>
          </a:xfrm>
          <a:prstGeom prst="roundRect">
            <a:avLst>
              <a:gd name="adj" fmla="val 26315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📦 Omni-Box Hybrid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CCCCC"/>
                </a:solidFill>
              </a:rPr>
              <a:t>Android + ESP32-S3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CCCCC"/>
                </a:solidFill>
              </a:rPr>
              <a:t>5-transport fallback chain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CCCCC"/>
                </a:solidFill>
              </a:rPr>
              <a:t>Shadow Autonomous Mode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0" y="1645920"/>
            <a:ext cx="3474720" cy="3657600"/>
          </a:xfrm>
          <a:prstGeom prst="roundRect">
            <a:avLst>
              <a:gd name="adj" fmla="val 26315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📊 Dashboard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95360" y="27432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CCCCC"/>
                </a:solidFill>
              </a:rPr>
              <a:t>3 profiles (Ind/Res/Solar)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CCCCC"/>
                </a:solidFill>
              </a:rPr>
              <a:t>WebSocket Real-time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CCCCC"/>
                </a:solidFill>
              </a:rPr>
              <a:t>PWA + Multi-idioma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86C"/>
                </a:solidFill>
              </a:rPr>
              <a:t>Não somos concorrentes — somos Redutores de CAPEX para as distribuidoras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🧮 PREDICTIVE DISPATCH ENGINE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FA7B"/>
                </a:solidFill>
              </a:rPr>
              <a:t>📈 Forecast Engine    ✅ IMPLEMENTED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  Holt-Winters Triple Exponential Smoothing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  Kalman Filter for real-time correction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  Seasonal Naive Fallback (MAE &lt; 5%)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86C"/>
                </a:solidFill>
              </a:rPr>
              <a:t>  🔜 Transformers + LSTM (Roadmap, MAE &lt; 2%)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FA7B"/>
                </a:solidFill>
              </a:rPr>
              <a:t>🎲 Stochastic Optimizer    ✅ IMPLEMENTED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  Monte Carlo with 10,000 price paths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  PLD price band simulation per submercado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  SoH degradation cost: 0.001%/h of dispatch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FA7B"/>
                </a:solidFill>
              </a:rPr>
              <a:t>📡 Live Data Collectors    ✅ IMPLEMENTED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1920240"/>
            <a:ext cx="4572000" cy="822960"/>
          </a:xfrm>
          <a:prstGeom prst="roundRect">
            <a:avLst>
              <a:gd name="adj" fmla="val 555556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7B2FF7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9659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F7"/>
                </a:solidFill>
              </a:rPr>
              <a:t>CCEE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2240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PLD Horário 2021-2026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JSON API → R$/kWh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3017520"/>
            <a:ext cx="4572000" cy="822960"/>
          </a:xfrm>
          <a:prstGeom prst="roundRect">
            <a:avLst>
              <a:gd name="adj" fmla="val 555556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7B2FF7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063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F7"/>
                </a:solidFill>
              </a:rPr>
              <a:t>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3337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Curva de Carga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CSV → LoadRecord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4114800"/>
            <a:ext cx="4572000" cy="822960"/>
          </a:xfrm>
          <a:prstGeom prst="roundRect">
            <a:avLst>
              <a:gd name="adj" fmla="val 555556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7B2FF7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F7"/>
                </a:solidFill>
              </a:rPr>
              <a:t>ANEEL SIGA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44348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Geração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CSV → GenerationAsset[]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2A4"/>
                </a:solidFill>
              </a:rPr>
              <a:t>Loss Function: ℒ = α·Profit − β·BatteryDegradation − γ·GridInstability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📦 OMNI-BOX: EDGE GATEWAY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🤖 Android App (47 tasks)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Kiosk/DPC — Device Owner, PIN SHA-256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ConnectionManager — 5-transport fallback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TelemetryDatabase — SQLite store-and-forward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MeterReader — CameraX + OCR meter reading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OmniBoxFcmService — FCM push (4 types)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PowerManager — 4 battery profiles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TimeFallback — NTP→GPS→Cellular→Uptime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OmniBoxViewModel — StateFlow UI state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55"/>
                </a:solidFill>
              </a:rPr>
              <a:t>⚙️ ESP32-S3 Co-Proc (10 modules)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Modbus RTU/TCP — Port 502, 8 registers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CAN Bus 2.0 — JBD/Daly/JK @ 250kbps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BLE GATT — UUID 4f4d4e49..., 3 chars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WiFi AP — Omni-Box-AP + REST endpoints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IEC 61850-9-2LE — SV multicast port 6000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Safety IEEE 1547 — Trip &lt;100ms, auto-reclose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Shadow Mode — RTC buffer 60 entries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OTA — ArduinoOTA + HTTP binary update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72A4"/>
                </a:solidFill>
              </a:rPr>
              <a:t>Fallback: CDC → BLE → WiFi → USB → Offline   |   TelemetryFrame 34B @ 115200 baud   |   HW Watchdog GPIO47 @ 1s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🦀 RUST CORE + CYBER-FORTRESS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6C"/>
                </a:solidFill>
              </a:rPr>
              <a:t>Rust Crate (1,066 lines)    ✅ IMPLEMENTED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  lib.rs — Core state machine + exports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  jni_bridge.rs — 13 JNI functions for Android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  shadow.rs — RTC shadow engine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  safety.rs — IEEE 1547 thresholds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  protocol.rs — Modbus, CAN, IEC 61850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  drivers/ — can.rs, iec61850.rs, modbus.rs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  28 inline tests + 23 integration tests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FA7B"/>
                </a:solidFill>
              </a:rPr>
              <a:t>🛡️ Security Layers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✅ mTLS X.509 certs per device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✅ SHA-256 PIN verification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✅ JWT HMAC-SHA256 with RBAC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✅ Zero Trust Architecture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86C"/>
                </a:solidFill>
              </a:rPr>
              <a:t>🔜 Blockchain dispatch audit trail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86C"/>
                </a:solidFill>
              </a:rPr>
              <a:t>🔜 Rate limiting + DoS protection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5029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F7"/>
                </a:solidFill>
              </a:rPr>
              <a:t>👤 RBAC Roles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5486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admin — Full access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5760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operator — Dispatch + telemetry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viewer — Read-only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device — Edge telemetry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6583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  api_client — External API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🔌 API GATEWAY — FASTIFY :3000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  Route                                                         Auth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1828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auth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2148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auth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468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788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/ws?token=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108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/api/v1/pde/forecast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3429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/api/v1/pde/optimize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749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3749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/api/v1/pde/dispatch/execute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hook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069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4069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/api/v1/pde/dispatch/history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389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11680" y="4389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/api/v1/market/prices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/api/v1/market/submercados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11680" y="5029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/api/v1/market/regulatory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5349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011680" y="5349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/api/v1/edge/telemetry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0" y="5349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1520" y="5669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011680" y="5669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/api/v1/telemetry/latest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686800" y="5669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72A4"/>
                </a:solidFill>
              </a:rPr>
              <a:t>Seed users: admin / operator / viewer / device-sim-001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💰 UNIT ECONOMICS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5029200" cy="4114800"/>
          </a:xfrm>
          <a:prstGeom prst="roundRect">
            <a:avLst>
              <a:gd name="adj" fmla="val 17777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B86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6C"/>
                </a:solidFill>
              </a:rPr>
              <a:t>Industrial 100kWh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Arbitrage (80kWh × R$0.60)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R$ 1,440/mo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Peak Shaving (success fee 30%)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R$ 1,500/mo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Ancillary Services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R$ 500/mo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Total MRR/unit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6C"/>
                </a:solidFill>
              </a:rPr>
              <a:t>R$ 3,440/mo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Payback (R$150k CAPEX)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6C"/>
                </a:solidFill>
              </a:rPr>
              <a:t>3.6 years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LTV (12yr)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6C"/>
                </a:solidFill>
              </a:rPr>
              <a:t>R$ 240k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371600"/>
            <a:ext cx="5029200" cy="4114800"/>
          </a:xfrm>
          <a:prstGeom prst="roundRect">
            <a:avLst>
              <a:gd name="adj" fmla="val 17777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Utility Scale 1MWh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Gross Annual Revenue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50976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US$ 180-250k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O&amp;M Cost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0976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US$ 15k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CAC (B2B SaaS)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0976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0FA7B"/>
                </a:solidFill>
              </a:rPr>
              <a:t>US$ 30k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LTV (12 years)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0976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0FA7B"/>
                </a:solidFill>
              </a:rPr>
              <a:t>US$ 2.5M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LTV/CAC Ratio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0976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0FA7B"/>
                </a:solidFill>
              </a:rPr>
              <a:t>&gt; 80x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Gross Margin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509760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0FA7B"/>
                </a:solidFill>
              </a:rPr>
              <a:t>85%+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0" y="5669280"/>
            <a:ext cx="6675120" cy="457200"/>
          </a:xfrm>
          <a:prstGeom prst="roundRect">
            <a:avLst>
              <a:gd name="adj" fmla="val 1000000"/>
            </a:avLst>
          </a:prstGeom>
          <a:solidFill>
            <a:srgbClr val="7B2FF7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0" y="56692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Break-even M14   |   MRR M12: R$ 340k   |   100 units deployed   |   MRR M9→M12: 5x growth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🇧🇷 BRAZILIAN ENERGY MARKET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4 Submercados PLD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5029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Submercado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Estados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Peso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Fator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SE/CO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SP,RJ,MG,ES,DF,GO,MT,MS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Sul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PR,SC,RS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~15%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0.95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Nordeste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BA,PE,CE,RN,PB,AL,SE,PI,MA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~15%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0.85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Norte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PA,AM,RO,AC,RR,AP,TO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~10%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1.15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</a:rPr>
              <a:t>PLD: Piso R$ 69,07  |  Teto R$ 599,31/MWh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1520" y="3931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2A4"/>
                </a:solidFill>
              </a:rPr>
              <a:t>Bandeira: Verde (seca) | Amarela +R$18,85 | Vermelha +R$44,63 / +R$78,77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FA7B"/>
                </a:solidFill>
              </a:rPr>
              <a:t>11 Utilities + 5 Traders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1920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Enel SP  •  CEMIG  •  CPFL  •  Light  •  EDP  •  Copel  •  Celesc  •  Coelba  •  Neoenergia PE  •  Equatorial PA  •  Energisa MT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Traders: Tradener  •  Comerc  •  Ecom Energia  •  Safira  •  Delta Energia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6C"/>
                </a:solidFill>
              </a:rPr>
              <a:t>PLD Price Simulation Bands (BRT)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931920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Período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Horário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R$/MWh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Madrugada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23h-5h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R$ 69-149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Entre-ponta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6h-9h / 21h-22h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R$ 100-200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Comercial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10h-17h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R$ 200-349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Ponta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18h-20h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R$ 300-549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⚙️ IMPLEMENTATION STATUS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PDE Engine (Forecast + Optimize)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0" y="1417320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333333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417320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50FA7B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0" y="1371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0FA7B"/>
                </a:solidFill>
              </a:rPr>
              <a:t>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Live Data Collectors (CCEE/ONS/SIGA)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1764792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333333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1764792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50FA7B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0" y="17190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0FA7B"/>
                </a:solidFill>
              </a:rPr>
              <a:t>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0665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API Gateway (13 routes + WS)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2112264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333333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2112264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50FA7B"/>
          </a:solidFill>
          <a:ln/>
        </p:spPr>
      </p:sp>
      <p:sp>
        <p:nvSpPr>
          <p:cNvPr id="15" name="Text 13"/>
          <p:cNvSpPr/>
          <p:nvPr/>
        </p:nvSpPr>
        <p:spPr>
          <a:xfrm>
            <a:off x="10698480" y="206654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0FA7B"/>
                </a:solidFill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4140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ESP32 Firmware (10 modules)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459736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3333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2459736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50FA7B"/>
          </a:solidFill>
          <a:ln/>
        </p:spPr>
      </p:sp>
      <p:sp>
        <p:nvSpPr>
          <p:cNvPr id="19" name="Text 17"/>
          <p:cNvSpPr/>
          <p:nvPr/>
        </p:nvSpPr>
        <p:spPr>
          <a:xfrm>
            <a:off x="10698480" y="24140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0FA7B"/>
                </a:solidFill>
              </a:rPr>
              <a:t>100%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27614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Android App (DPC + bridges)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2807208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333333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2807208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50FA7B"/>
          </a:solidFill>
          <a:ln/>
        </p:spPr>
      </p:sp>
      <p:sp>
        <p:nvSpPr>
          <p:cNvPr id="23" name="Text 21"/>
          <p:cNvSpPr/>
          <p:nvPr/>
        </p:nvSpPr>
        <p:spPr>
          <a:xfrm>
            <a:off x="10698480" y="27614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0FA7B"/>
                </a:solidFill>
              </a:rPr>
              <a:t>100%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Rust Crate (state machine + JNI)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3154680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3154680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50FA7B"/>
          </a:solidFill>
          <a:ln/>
        </p:spPr>
      </p:sp>
      <p:sp>
        <p:nvSpPr>
          <p:cNvPr id="27" name="Text 25"/>
          <p:cNvSpPr/>
          <p:nvPr/>
        </p:nvSpPr>
        <p:spPr>
          <a:xfrm>
            <a:off x="10698480" y="3108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0FA7B"/>
                </a:solidFill>
              </a:rPr>
              <a:t>100%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3456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Dashboard (3 profiles + PWA)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3502152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333333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0" y="3502152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50FA7B"/>
          </a:solidFill>
          <a:ln/>
        </p:spPr>
      </p:sp>
      <p:sp>
        <p:nvSpPr>
          <p:cNvPr id="31" name="Text 29"/>
          <p:cNvSpPr/>
          <p:nvPr/>
        </p:nvSpPr>
        <p:spPr>
          <a:xfrm>
            <a:off x="10698480" y="34564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0FA7B"/>
                </a:solidFill>
              </a:rPr>
              <a:t>100%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38039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CI/CD Pipeline (8 jobs)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3849624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0" y="3849624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50FA7B"/>
          </a:solidFill>
          <a:ln/>
        </p:spPr>
      </p:sp>
      <p:sp>
        <p:nvSpPr>
          <p:cNvPr id="35" name="Text 33"/>
          <p:cNvSpPr/>
          <p:nvPr/>
        </p:nvSpPr>
        <p:spPr>
          <a:xfrm>
            <a:off x="10698480" y="38039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0FA7B"/>
                </a:solidFill>
              </a:rPr>
              <a:t>100%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4151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Market Connect (PLD + utilities)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0" y="4197096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333333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0" y="4197096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50FA7B"/>
          </a:solidFill>
          <a:ln/>
        </p:spPr>
      </p:sp>
      <p:sp>
        <p:nvSpPr>
          <p:cNvPr id="39" name="Text 37"/>
          <p:cNvSpPr/>
          <p:nvPr/>
        </p:nvSpPr>
        <p:spPr>
          <a:xfrm>
            <a:off x="10698480" y="41513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0FA7B"/>
                </a:solidFill>
              </a:rPr>
              <a:t>100%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" y="44988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V2G Fleet Integration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0" y="4544568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333333"/>
          </a:solidFill>
          <a:ln/>
        </p:spPr>
      </p:sp>
      <p:sp>
        <p:nvSpPr>
          <p:cNvPr id="42" name="Shape 40"/>
          <p:cNvSpPr/>
          <p:nvPr/>
        </p:nvSpPr>
        <p:spPr>
          <a:xfrm>
            <a:off x="5943600" y="4544568"/>
            <a:ext cx="685800" cy="228600"/>
          </a:xfrm>
          <a:prstGeom prst="roundRect">
            <a:avLst>
              <a:gd name="adj" fmla="val 1600000"/>
            </a:avLst>
          </a:prstGeom>
          <a:solidFill>
            <a:srgbClr val="FFB86C"/>
          </a:solidFill>
          <a:ln/>
        </p:spPr>
      </p:sp>
      <p:sp>
        <p:nvSpPr>
          <p:cNvPr id="43" name="Text 41"/>
          <p:cNvSpPr/>
          <p:nvPr/>
        </p:nvSpPr>
        <p:spPr>
          <a:xfrm>
            <a:off x="10698480" y="44988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86C"/>
                </a:solidFill>
              </a:rPr>
              <a:t>15%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1520" y="4846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ONS Ancillary Services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0" y="4892040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5943600" y="4892040"/>
            <a:ext cx="457200" cy="228600"/>
          </a:xfrm>
          <a:prstGeom prst="roundRect">
            <a:avLst>
              <a:gd name="adj" fmla="val 1600000"/>
            </a:avLst>
          </a:prstGeom>
          <a:solidFill>
            <a:srgbClr val="FFB86C"/>
          </a:solidFill>
          <a:ln/>
        </p:spPr>
      </p:sp>
      <p:sp>
        <p:nvSpPr>
          <p:cNvPr id="47" name="Text 45"/>
          <p:cNvSpPr/>
          <p:nvPr/>
        </p:nvSpPr>
        <p:spPr>
          <a:xfrm>
            <a:off x="1069848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86C"/>
                </a:solidFill>
              </a:rPr>
              <a:t>10%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" y="51937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ACL Free Market Trading License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43600" y="5239512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333333"/>
          </a:solidFill>
          <a:ln/>
        </p:spPr>
      </p:sp>
      <p:sp>
        <p:nvSpPr>
          <p:cNvPr id="50" name="Shape 48"/>
          <p:cNvSpPr/>
          <p:nvPr/>
        </p:nvSpPr>
        <p:spPr>
          <a:xfrm>
            <a:off x="5943600" y="5239512"/>
            <a:ext cx="228600" cy="228600"/>
          </a:xfrm>
          <a:prstGeom prst="roundRect">
            <a:avLst>
              <a:gd name="adj" fmla="val 1600000"/>
            </a:avLst>
          </a:prstGeom>
          <a:solidFill>
            <a:srgbClr val="FF5555"/>
          </a:solidFill>
          <a:ln/>
        </p:spPr>
      </p:sp>
      <p:sp>
        <p:nvSpPr>
          <p:cNvPr id="51" name="Text 49"/>
          <p:cNvSpPr/>
          <p:nvPr/>
        </p:nvSpPr>
        <p:spPr>
          <a:xfrm>
            <a:off x="10698480" y="51937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555"/>
                </a:solidFill>
              </a:rPr>
              <a:t>5%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1520" y="55412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Blockchain Audit Trail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943600" y="5586984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333333"/>
          </a:solidFill>
          <a:ln/>
        </p:spPr>
      </p:sp>
      <p:sp>
        <p:nvSpPr>
          <p:cNvPr id="54" name="Shape 52"/>
          <p:cNvSpPr/>
          <p:nvPr/>
        </p:nvSpPr>
        <p:spPr>
          <a:xfrm>
            <a:off x="5943600" y="5586984"/>
            <a:ext cx="0" cy="228600"/>
          </a:xfrm>
          <a:prstGeom prst="roundRect">
            <a:avLst>
              <a:gd name="adj" fmla="val Infinity"/>
            </a:avLst>
          </a:prstGeom>
          <a:solidFill>
            <a:srgbClr val="FF5555"/>
          </a:solidFill>
          <a:ln/>
        </p:spPr>
      </p:sp>
      <p:sp>
        <p:nvSpPr>
          <p:cNvPr id="55" name="Text 53"/>
          <p:cNvSpPr/>
          <p:nvPr/>
        </p:nvSpPr>
        <p:spPr>
          <a:xfrm>
            <a:off x="10698480" y="55412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555"/>
                </a:solidFill>
              </a:rPr>
              <a:t>0%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1520" y="58887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Texas/Australia Expansion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943600" y="5934456"/>
            <a:ext cx="4572000" cy="228600"/>
          </a:xfrm>
          <a:prstGeom prst="roundRect">
            <a:avLst>
              <a:gd name="adj" fmla="val 1600000"/>
            </a:avLst>
          </a:prstGeom>
          <a:solidFill>
            <a:srgbClr val="333333"/>
          </a:solidFill>
          <a:ln/>
        </p:spPr>
      </p:sp>
      <p:sp>
        <p:nvSpPr>
          <p:cNvPr id="58" name="Shape 56"/>
          <p:cNvSpPr/>
          <p:nvPr/>
        </p:nvSpPr>
        <p:spPr>
          <a:xfrm>
            <a:off x="5943600" y="5934456"/>
            <a:ext cx="0" cy="228600"/>
          </a:xfrm>
          <a:prstGeom prst="roundRect">
            <a:avLst>
              <a:gd name="adj" fmla="val Infinity"/>
            </a:avLst>
          </a:prstGeom>
          <a:solidFill>
            <a:srgbClr val="FF5555"/>
          </a:solidFill>
          <a:ln/>
        </p:spPr>
      </p:sp>
      <p:sp>
        <p:nvSpPr>
          <p:cNvPr id="59" name="Text 57"/>
          <p:cNvSpPr/>
          <p:nvPr/>
        </p:nvSpPr>
        <p:spPr>
          <a:xfrm>
            <a:off x="10698480" y="588873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5555"/>
                </a:solidFill>
              </a:rPr>
              <a:t>0%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0FA7B"/>
                </a:solidFill>
              </a:rPr>
              <a:t>~302 tests across all packages   |   All 4 sprints complete   |   All 47 edge tasks done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🗺️ 36-MONTH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474720" cy="5029200"/>
          </a:xfrm>
          <a:prstGeom prst="roundRect">
            <a:avLst>
              <a:gd name="adj" fmla="val 263158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FFB86C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86C"/>
                </a:solidFill>
              </a:rPr>
              <a:t>🔥 Year 1 — Ignition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2011680"/>
            <a:ext cx="2560320" cy="182880"/>
          </a:xfrm>
          <a:prstGeom prst="roundRect">
            <a:avLst>
              <a:gd name="adj" fmla="val 1500000"/>
            </a:avLst>
          </a:prstGeom>
          <a:solidFill>
            <a:srgbClr val="333333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011680"/>
            <a:ext cx="2560320" cy="182880"/>
          </a:xfrm>
          <a:prstGeom prst="roundRect">
            <a:avLst>
              <a:gd name="adj" fmla="val 1500000"/>
            </a:avLst>
          </a:prstGeom>
          <a:solidFill>
            <a:srgbClr val="FFB86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✅ PDE Engine + Collectors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✅ Omni-Box + Android 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✅ Dashboard + API Gateway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✅ CI/CD Pipeline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🎯 10 industrial sites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👥 Team: 12 engineers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371600"/>
            <a:ext cx="3474720" cy="5029200"/>
          </a:xfrm>
          <a:prstGeom prst="roundRect">
            <a:avLst>
              <a:gd name="adj" fmla="val 263158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7B2FF7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FF7"/>
                </a:solidFill>
              </a:rPr>
              <a:t>🚀 Year 2 — Blitzscaling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2011680"/>
            <a:ext cx="2560320" cy="182880"/>
          </a:xfrm>
          <a:prstGeom prst="roundRect">
            <a:avLst>
              <a:gd name="adj" fmla="val 1500000"/>
            </a:avLst>
          </a:prstGeom>
          <a:solidFill>
            <a:srgbClr val="333333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2011680"/>
            <a:ext cx="384048" cy="182880"/>
          </a:xfrm>
          <a:prstGeom prst="roundRect">
            <a:avLst>
              <a:gd name="adj" fmla="val 1500000"/>
            </a:avLst>
          </a:prstGeom>
          <a:solidFill>
            <a:srgbClr val="7B2FF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🔜 V2G Fleet Integration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🔜 ACL Trading License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🔜 ONS Ancillary Services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🎯 500MWh under mgmt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👥 Team: 100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4663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💰 Series A/B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12480" y="1371600"/>
            <a:ext cx="3474720" cy="5029200"/>
          </a:xfrm>
          <a:prstGeom prst="roundRect">
            <a:avLst>
              <a:gd name="adj" fmla="val 263158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50FA7B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FA7B"/>
                </a:solidFill>
              </a:rPr>
              <a:t>🏆 Year 3 — Dominance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869680" y="2011680"/>
            <a:ext cx="2560320" cy="182880"/>
          </a:xfrm>
          <a:prstGeom prst="roundRect">
            <a:avLst>
              <a:gd name="adj" fmla="val 1500000"/>
            </a:avLst>
          </a:pr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8869680" y="2011680"/>
            <a:ext cx="0" cy="182880"/>
          </a:xfrm>
          <a:prstGeom prst="roundRect">
            <a:avLst>
              <a:gd name="adj" fmla="val Infinity"/>
            </a:avLst>
          </a:prstGeom>
          <a:solidFill>
            <a:srgbClr val="50FA7B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🌎 Texas/Australia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🎯 2GWh under mgmt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💰 ARR US$ 150M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📈 IPO NASDAQ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💵 &gt; $1.5B valuation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4663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👥 Team: 500+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🎯 EXIT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5029200" cy="1554480"/>
          </a:xfrm>
          <a:prstGeom prst="roundRect">
            <a:avLst>
              <a:gd name="adj" fmla="val 58823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54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🛢️ Big Oil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Shell, BP, Equinor — Hydrocarbon → Electron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5029200" cy="1554480"/>
          </a:xfrm>
          <a:prstGeom prst="roundRect">
            <a:avLst>
              <a:gd name="adj" fmla="val 58823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554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☁️ Big Tech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0" y="2103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Amazon, Google, Microsoft — Data center load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5029200" cy="1554480"/>
          </a:xfrm>
          <a:prstGeom prst="roundRect">
            <a:avLst>
              <a:gd name="adj" fmla="val 58823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66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🚗 EV Giants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Tesla, BYD, VW — Software verticalization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3383280"/>
            <a:ext cx="5029200" cy="1554480"/>
          </a:xfrm>
          <a:prstGeom prst="roundRect">
            <a:avLst>
              <a:gd name="adj" fmla="val 58823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566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📈 IPO NASDAQ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41148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First data-driven utility — &gt; US$ 1.5B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0" y="5486400"/>
            <a:ext cx="12188952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16200000">
              <a:srgbClr val="50FA7B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0FA7B"/>
                </a:solidFill>
              </a:rPr>
              <a:t>"O bilhão não é o fim — é o combustível."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72A4"/>
                </a:solidFill>
              </a:rPr>
              <a:t>JARBAS v4.0  |  Arquiteto de Sistemas Soberanos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OMNI-GRID — The Cognitive Energy Infrastructure</dc:title>
  <dc:subject>Pitch Deck — Brazilian Energy Market</dc:subject>
  <dc:creator>JARBAS v4.0</dc:creator>
  <cp:lastModifiedBy>JARBAS v4.0</cp:lastModifiedBy>
  <cp:revision>1</cp:revision>
  <dcterms:created xsi:type="dcterms:W3CDTF">2026-05-28T20:03:46Z</dcterms:created>
  <dcterms:modified xsi:type="dcterms:W3CDTF">2026-05-28T20:03:46Z</dcterms:modified>
</cp:coreProperties>
</file>